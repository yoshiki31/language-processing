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0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4622" autoAdjust="0"/>
  </p:normalViewPr>
  <p:slideViewPr>
    <p:cSldViewPr>
      <p:cViewPr varScale="1">
        <p:scale>
          <a:sx n="39" d="100"/>
          <a:sy n="39" d="100"/>
        </p:scale>
        <p:origin x="8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20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542B4-626C-4836-8BDE-E4E6E5AB663E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80DF3-5762-4843-9FC5-5FBA2AB656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47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9188D-B380-402D-8E35-ED3E2E91AED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CDDD-6F23-475E-8F0B-62FBA567376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98D7-471A-4690-B03F-B0F8A8100481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9B36-B3B6-461D-A3BA-769A99BABAC2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95300"/>
            <a:ext cx="16687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670175"/>
            <a:ext cx="8383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3309937"/>
            <a:ext cx="8383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64627" y="2670175"/>
            <a:ext cx="815657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28760" y="3309937"/>
            <a:ext cx="80924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9609137"/>
            <a:ext cx="2133600" cy="365125"/>
          </a:xfrm>
        </p:spPr>
        <p:txBody>
          <a:bodyPr/>
          <a:lstStyle/>
          <a:p>
            <a:fld id="{68063CA3-10AE-4B3E-B9E0-D2474FED841F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616827" y="9609137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474696" y="960913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297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04800" y="9647237"/>
            <a:ext cx="2133600" cy="365125"/>
          </a:xfrm>
        </p:spPr>
        <p:txBody>
          <a:bodyPr/>
          <a:lstStyle/>
          <a:p>
            <a:fld id="{27BE817C-070F-4972-8C3B-E221FDC3128E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05800" y="9638732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621000" y="963873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486900"/>
            <a:ext cx="2133600" cy="365125"/>
          </a:xfrm>
        </p:spPr>
        <p:txBody>
          <a:bodyPr/>
          <a:lstStyle/>
          <a:p>
            <a:fld id="{56A1704D-B661-4DF5-B86C-ABEF11C43993}" type="datetime1">
              <a:rPr lang="ja-JP" altLang="en-US" smtClean="0"/>
              <a:t>2026/6/19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610600" y="9486900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16784" y="948689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BB79-C81B-4568-B144-EC863A57284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C431F-01E8-4490-88DE-C770F9295B9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33E-E6CB-470B-878F-0F25DDE96C0B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D55-9195-43D8-A3AC-12F0B915EF72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CF1C5-7E12-4BA5-B260-E285FCA0D209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8EAED">
                <a:alpha val="100000"/>
              </a:srgb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300000" y="3350000"/>
            <a:ext cx="15600000" cy="9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5400" b="1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MiniC++: GC方式を比較できる自作VM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0000" y="4520000"/>
            <a:ext cx="15300000" cy="5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23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配列内参照・循環参照・Mark &amp; Sweep / Mark &amp; Compact・自動GC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000" y="5650000"/>
            <a:ext cx="5200000" cy="43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900" b="0" dirty="0">
                <a:solidFill>
                  <a:srgbClr val="444444"/>
                </a:solidFill>
                <a:latin typeface="セザンヌ Bold"/>
                <a:ea typeface="セザンヌ Bold"/>
                <a:cs typeface="セザンヌ Bold"/>
              </a:rPr>
              <a:t>言語処理系 最終レポート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00000" y="6160000"/>
            <a:ext cx="4400000" cy="3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5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2026/7/1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今日の主張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5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MiniC++は、C++風構文をバイトコードVMで実行する小さな言語処理系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最低要件の関数・配列に加え、VMヒープとGCを実装した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配列の中に配列参照を格納でき、循環参照も作れる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Mark &amp; Sweep と Mark &amp; Compact を同じVMで比較できる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自動GC・統計・ベンチマークにより、GC方式の違いを観察できる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処理系の全体像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3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ソースコード -&gt; 字句解析 -&gt; 構文解析 -&gt; AST -&gt; バイトコード -&gt; スタックVM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VMは値スタックと関数フレームを持つ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関数呼び出しは Frame(func, pc, locals) を積んで実行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配列本体はVMヒープに置き、変数にはObjectRefを持つ</a:t>
            </a:r>
          </a:p>
        </p:txBody>
      </p:sp>
      <p:sp>
        <p:nvSpPr>
          <p:cNvPr id="31" name="Code 31"/>
          <p:cNvSpPr txBox="1"/>
          <p:nvPr/>
        </p:nvSpPr>
        <p:spPr>
          <a:xfrm>
            <a:off x="1700000" y="6100000"/>
            <a:ext cx="14600000" cy="2500000"/>
          </a:xfrm>
          <a:prstGeom prst="roundRect">
            <a:avLst/>
          </a:prstGeom>
          <a:solidFill>
            <a:srgbClr val="F4F7FB"/>
          </a:solidFill>
          <a:ln w="12000">
            <a:solidFill>
              <a:srgbClr val="C7D7EA"/>
            </a:solidFill>
          </a:ln>
        </p:spPr>
        <p:txBody>
          <a:bodyPr lIns="180000" tIns="150000" rIns="180000" bIns="150000" rtlCol="0" anchor="t">
            <a:spAutoFit/>
          </a:bodyPr>
          <a:lstStyle/>
          <a:p>
            <a:r>
              <a:rPr lang="en-US" sz="1700" dirty="0">
                <a:solidFill>
                  <a:srgbClr val="1E1E1E"/>
                </a:solidFill>
                <a:latin typeface="Consolas"/>
                <a:ea typeface="游ゴシック"/>
              </a:rPr>
              <a:t>MiniC++ source
  -&gt; tokens -&gt; AST -&gt; bytecode
  -&gt; stack VM + heap + GC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デモ対象の言語機能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3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関数: 引数・戻り値・再帰呼び出し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配列: new int[n], a[i], a[i] = value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多段配列: int[][] arrays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配列内参照: arrays[0] = values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GC: gc(), compact_gc(), 閾値による自動GC</a:t>
            </a:r>
          </a:p>
        </p:txBody>
      </p:sp>
      <p:sp>
        <p:nvSpPr>
          <p:cNvPr id="31" name="Code 31"/>
          <p:cNvSpPr txBox="1"/>
          <p:nvPr/>
        </p:nvSpPr>
        <p:spPr>
          <a:xfrm>
            <a:off x="1700000" y="6100000"/>
            <a:ext cx="14600000" cy="2500000"/>
          </a:xfrm>
          <a:prstGeom prst="roundRect">
            <a:avLst/>
          </a:prstGeom>
          <a:solidFill>
            <a:srgbClr val="F4F7FB"/>
          </a:solidFill>
          <a:ln w="12000">
            <a:solidFill>
              <a:srgbClr val="C7D7EA"/>
            </a:solidFill>
          </a:ln>
        </p:spPr>
        <p:txBody>
          <a:bodyPr lIns="180000" tIns="150000" rIns="180000" bIns="150000" rtlCol="0" anchor="t">
            <a:spAutoFit/>
          </a:bodyPr>
          <a:lstStyle/>
          <a:p>
            <a:r>
              <a:rPr lang="en-US" sz="1700" dirty="0">
                <a:solidFill>
                  <a:srgbClr val="1E1E1E"/>
                </a:solidFill>
                <a:latin typeface="Consolas"/>
                <a:ea typeface="游ゴシック"/>
              </a:rPr>
              <a:t>int[][] arrays = new int[1];
int[] values = new int[1];
values[0] = 42;
arrays[0] = values;
return arrays[0][0];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Ruby GCではなくMiniC++ VMのGC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5</a:t>
            </a:r>
          </a:p>
        </p:txBody>
      </p:sp>
      <p:sp>
        <p:nvSpPr>
          <p:cNvPr id="30" name="Shape 30"/>
          <p:cNvSpPr/>
          <p:nvPr/>
        </p:nvSpPr>
        <p:spPr>
          <a:xfrm>
            <a:off x="1150000" y="2280000"/>
            <a:ext cx="7250000" cy="48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510000" y="2620000"/>
            <a:ext cx="6500000" cy="4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5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Ruby GC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0000" y="3250000"/>
            <a:ext cx="6500000" cy="3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Rubyオブジェクトの実メモリを管理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MiniC++の変数やVMスタックの意味は知らない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MiniC++仮想アドレスを詰め替えない</a:t>
            </a:r>
          </a:p>
        </p:txBody>
      </p:sp>
      <p:sp>
        <p:nvSpPr>
          <p:cNvPr id="33" name="Shape 33"/>
          <p:cNvSpPr/>
          <p:nvPr/>
        </p:nvSpPr>
        <p:spPr>
          <a:xfrm>
            <a:off x="9350000" y="2280000"/>
            <a:ext cx="7250000" cy="48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710000" y="2620000"/>
            <a:ext cx="6500000" cy="4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5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MiniC++ GC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10000" y="3250000"/>
            <a:ext cx="6500000" cy="3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MiniC++のスタック・localsをルートにする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配列要素内のObjectRefも辿る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Compact時にObjectRef.addressを書き換える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VMヒープと配列内参照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6</a:t>
            </a:r>
          </a:p>
        </p:txBody>
      </p:sp>
      <p:sp>
        <p:nvSpPr>
          <p:cNvPr id="30" name="Shape 30"/>
          <p:cNvSpPr/>
          <p:nvPr/>
        </p:nvSpPr>
        <p:spPr>
          <a:xfrm>
            <a:off x="1100000" y="2360000"/>
            <a:ext cx="4400000" cy="1250000"/>
          </a:xfrm>
          <a:prstGeom prst="roundRect">
            <a:avLst/>
          </a:prstGeom>
          <a:solidFill>
            <a:srgbClr val="EAF4FB"/>
          </a:solidFill>
          <a:ln w="16000">
            <a:solidFill>
              <a:srgbClr val="B7D7E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420000" y="2600000"/>
            <a:ext cx="3760000" cy="33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6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スタック / ローカル変数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0000" y="3020000"/>
            <a:ext cx="3740000" cy="3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450" b="1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Value.object(ObjectRef(address=0))</a:t>
            </a:r>
          </a:p>
        </p:txBody>
      </p:sp>
      <p:sp>
        <p:nvSpPr>
          <p:cNvPr id="33" name="Arrow 33"/>
          <p:cNvSpPr/>
          <p:nvPr/>
        </p:nvSpPr>
        <p:spPr>
          <a:xfrm>
            <a:off x="5700000" y="3000000"/>
            <a:ext cx="1350000" cy="0"/>
          </a:xfrm>
          <a:prstGeom prst="line">
            <a:avLst/>
          </a:prstGeom>
          <a:ln w="26000" cap="flat">
            <a:solidFill>
              <a:srgbClr val="003479"/>
            </a:solidFill>
            <a:tailEnd type="triangl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5780000" y="2600000"/>
            <a:ext cx="1250000" cy="2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1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address=0</a:t>
            </a:r>
          </a:p>
        </p:txBody>
      </p:sp>
      <p:sp>
        <p:nvSpPr>
          <p:cNvPr id="35" name="Shape 35"/>
          <p:cNvSpPr/>
          <p:nvPr/>
        </p:nvSpPr>
        <p:spPr>
          <a:xfrm>
            <a:off x="7250000" y="2020000"/>
            <a:ext cx="5500000" cy="2250000"/>
          </a:xfrm>
          <a:prstGeom prst="roundRect">
            <a:avLst/>
          </a:prstGeom>
          <a:solidFill>
            <a:srgbClr val="F7F9FC"/>
          </a:solidFill>
          <a:ln w="16000">
            <a:solidFill>
              <a:srgbClr val="CCD8E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20000" y="2250000"/>
            <a:ext cx="4950000" cy="3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7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Heap インスタンス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20000" y="2710000"/>
            <a:ext cx="4950000" cy="28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25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@objects は Ruby の配列</a:t>
            </a:r>
          </a:p>
        </p:txBody>
      </p:sp>
      <p:sp>
        <p:nvSpPr>
          <p:cNvPr id="38" name="Shape 38"/>
          <p:cNvSpPr/>
          <p:nvPr/>
        </p:nvSpPr>
        <p:spPr>
          <a:xfrm>
            <a:off x="7620000" y="3170000"/>
            <a:ext cx="4850000" cy="780000"/>
          </a:xfrm>
          <a:prstGeom prst="roundRect">
            <a:avLst/>
          </a:prstGeom>
          <a:solidFill>
            <a:srgbClr val="EAF4FB"/>
          </a:solidFill>
          <a:ln w="16000">
            <a:solidFill>
              <a:srgbClr val="B7D7ED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860000" y="3395000"/>
            <a:ext cx="9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4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[0]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60000" y="3390000"/>
            <a:ext cx="3350000" cy="27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450" b="1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Entry(object, marked=false)</a:t>
            </a:r>
          </a:p>
        </p:txBody>
      </p:sp>
      <p:sp>
        <p:nvSpPr>
          <p:cNvPr id="41" name="Arrow 41"/>
          <p:cNvSpPr/>
          <p:nvPr/>
        </p:nvSpPr>
        <p:spPr>
          <a:xfrm>
            <a:off x="12950000" y="3540000"/>
            <a:ext cx="1000000" cy="0"/>
          </a:xfrm>
          <a:prstGeom prst="line">
            <a:avLst/>
          </a:prstGeom>
          <a:ln w="26000" cap="flat">
            <a:solidFill>
              <a:srgbClr val="003479"/>
            </a:solidFill>
            <a:tailEnd type="triangle" w="sm" len="sm"/>
          </a:ln>
        </p:spPr>
      </p:sp>
      <p:sp>
        <p:nvSpPr>
          <p:cNvPr id="42" name="TextBox 42"/>
          <p:cNvSpPr txBox="1"/>
          <p:nvPr/>
        </p:nvSpPr>
        <p:spPr>
          <a:xfrm>
            <a:off x="12850000" y="3170000"/>
            <a:ext cx="125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1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Entry.object</a:t>
            </a:r>
          </a:p>
        </p:txBody>
      </p:sp>
      <p:sp>
        <p:nvSpPr>
          <p:cNvPr id="43" name="Shape 43"/>
          <p:cNvSpPr/>
          <p:nvPr/>
        </p:nvSpPr>
        <p:spPr>
          <a:xfrm>
            <a:off x="14050000" y="2750000"/>
            <a:ext cx="3250000" cy="1610000"/>
          </a:xfrm>
          <a:prstGeom prst="roundRect">
            <a:avLst/>
          </a:prstGeom>
          <a:solidFill>
            <a:srgbClr val="FFF9E8"/>
          </a:solidFill>
          <a:ln w="16000">
            <a:solidFill>
              <a:srgbClr val="E5C96D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4310000" y="3000000"/>
            <a:ext cx="2700000" cy="3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500" b="1" dirty="0">
                <a:solidFill>
                  <a:srgbClr val="9A6A00"/>
                </a:solidFill>
                <a:latin typeface="セザンヌ Bold"/>
                <a:ea typeface="セザンヌ Bold"/>
                <a:cs typeface="セザンヌ Bold"/>
              </a:rPr>
              <a:t>IntArray インスタンス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50000" y="3430000"/>
            <a:ext cx="285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2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@elements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250000" y="3760000"/>
            <a:ext cx="2850000" cy="2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ja-JP" altLang="en-US" sz="1100" b="0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[Value.int(0), Value.int(10), ...]</a:t>
            </a:r>
          </a:p>
        </p:txBody>
      </p:sp>
      <p:sp>
        <p:nvSpPr>
          <p:cNvPr id="47" name="Shape 47"/>
          <p:cNvSpPr/>
          <p:nvPr/>
        </p:nvSpPr>
        <p:spPr>
          <a:xfrm>
            <a:off x="1150000" y="5060000"/>
            <a:ext cx="16000000" cy="120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520000" y="5300000"/>
            <a:ext cx="15250000" cy="2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5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ポイント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20000" y="5650000"/>
            <a:ext cx="15250000" cy="4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2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変数は配列本体ではなく ObjectRef(address) を持つ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2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配列要素には整数だけでなく ObjectRef も入る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2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GCは stack -&gt; locals -&gt; array elements を再帰的に辿る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2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mark済みなら再訪問しないので循環参照でも止まる</a:t>
            </a:r>
          </a:p>
        </p:txBody>
      </p:sp>
      <p:sp>
        <p:nvSpPr>
          <p:cNvPr id="50" name="Shape 50"/>
          <p:cNvSpPr/>
          <p:nvPr/>
        </p:nvSpPr>
        <p:spPr>
          <a:xfrm>
            <a:off x="1150000" y="6820000"/>
            <a:ext cx="16000000" cy="1200000"/>
          </a:xfrm>
          <a:prstGeom prst="roundRect">
            <a:avLst/>
          </a:prstGeom>
          <a:solidFill>
            <a:srgbClr val="F4F7FB"/>
          </a:solidFill>
          <a:ln w="16000">
            <a:solidFill>
              <a:srgbClr val="C7D7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520000" y="7080000"/>
            <a:ext cx="1525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45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つまり: Value は配列本体ではなくヒープ上の場所を持つ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20000" y="7470000"/>
            <a:ext cx="1525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350" b="0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GC は Heap の Entry.marked を見て、生きている配列だけを残す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Mark &amp; Sweep と Mark &amp; Compact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7</a:t>
            </a:r>
          </a:p>
        </p:txBody>
      </p:sp>
      <p:sp>
        <p:nvSpPr>
          <p:cNvPr id="30" name="Shape 30"/>
          <p:cNvSpPr/>
          <p:nvPr/>
        </p:nvSpPr>
        <p:spPr>
          <a:xfrm>
            <a:off x="1150000" y="2280000"/>
            <a:ext cx="7250000" cy="48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510000" y="2620000"/>
            <a:ext cx="6500000" cy="4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5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Mark &amp; Sweep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0000" y="3250000"/>
            <a:ext cx="6500000" cy="3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到達不能Entryをnilにする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オブジェクトは移動しない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参照更新が不要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ヒープに穴が残る</a:t>
            </a:r>
          </a:p>
        </p:txBody>
      </p:sp>
      <p:sp>
        <p:nvSpPr>
          <p:cNvPr id="33" name="Shape 33"/>
          <p:cNvSpPr/>
          <p:nvPr/>
        </p:nvSpPr>
        <p:spPr>
          <a:xfrm>
            <a:off x="9350000" y="2280000"/>
            <a:ext cx="7250000" cy="48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710000" y="2620000"/>
            <a:ext cx="6500000" cy="4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5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Mark &amp; Compact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10000" y="3250000"/>
            <a:ext cx="6500000" cy="3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生存Entryだけを前に詰める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古いaddress -&gt; 新しいaddressを記録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stack / locals / 配列要素の参照を更新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断片化を0にできる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自動GCと統計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3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配列確保時にヒープ上の生存オブジェクト数を確認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閾値以上なら sweep または compact を自動実行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CLIから --gc-strategy sweep|compact と --gc-threshold を指定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統計: GC回数、GC時間、回収数、移動数、参照更新数、断片化率</a:t>
            </a:r>
          </a:p>
        </p:txBody>
      </p:sp>
      <p:sp>
        <p:nvSpPr>
          <p:cNvPr id="31" name="Code 31"/>
          <p:cNvSpPr txBox="1"/>
          <p:nvPr/>
        </p:nvSpPr>
        <p:spPr>
          <a:xfrm>
            <a:off x="1700000" y="6100000"/>
            <a:ext cx="14600000" cy="2500000"/>
          </a:xfrm>
          <a:prstGeom prst="roundRect">
            <a:avLst/>
          </a:prstGeom>
          <a:solidFill>
            <a:srgbClr val="F4F7FB"/>
          </a:solidFill>
          <a:ln w="12000">
            <a:solidFill>
              <a:srgbClr val="C7D7EA"/>
            </a:solidFill>
          </a:ln>
        </p:spPr>
        <p:txBody>
          <a:bodyPr lIns="180000" tIns="150000" rIns="180000" bIns="150000" rtlCol="0" anchor="t">
            <a:spAutoFit/>
          </a:bodyPr>
          <a:lstStyle/>
          <a:p>
            <a:r>
              <a:rPr lang="en-US" sz="1700" dirty="0">
                <a:solidFill>
                  <a:srgbClr val="1E1E1E"/>
                </a:solidFill>
                <a:latin typeface="Consolas"/>
                <a:ea typeface="游ゴシック"/>
              </a:rPr>
              <a:t>ruby minicpp.rb --result --gc-stats \
  --gc-strategy compact --gc-threshold 128 \
  examples/10_compact_gc.mcpp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ベンチマーク結果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3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条件: iterations=1000, threshold=128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短命配列: すぐ不要になる配列を大量生成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生存率10%: 一部の配列だけkeep配列から参照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循環参照: 到達不能な a &lt;-&gt; b を大量生成</a:t>
            </a:r>
          </a:p>
        </p:txBody>
      </p:sp>
      <p:sp>
        <p:nvSpPr>
          <p:cNvPr id="31" name="Code 31"/>
          <p:cNvSpPr txBox="1"/>
          <p:nvPr/>
        </p:nvSpPr>
        <p:spPr>
          <a:xfrm>
            <a:off x="1700000" y="6100000"/>
            <a:ext cx="14600000" cy="2500000"/>
          </a:xfrm>
          <a:prstGeom prst="roundRect">
            <a:avLst/>
          </a:prstGeom>
          <a:solidFill>
            <a:srgbClr val="F4F7FB"/>
          </a:solidFill>
          <a:ln w="12000">
            <a:solidFill>
              <a:srgbClr val="C7D7EA"/>
            </a:solidFill>
          </a:ln>
        </p:spPr>
        <p:txBody>
          <a:bodyPr lIns="180000" tIns="150000" rIns="180000" bIns="150000" rtlCol="0" anchor="t">
            <a:spAutoFit/>
          </a:bodyPr>
          <a:lstStyle/>
          <a:p>
            <a:r>
              <a:rPr lang="en-US" sz="1300" dirty="0">
                <a:solidFill>
                  <a:srgbClr val="1E1E1E"/>
                </a:solidFill>
                <a:latin typeface="Consolas"/>
                <a:ea typeface="游ゴシック"/>
              </a:rPr>
              <a:t>case                 GC       total  gc_ms  collected  moved  upd_ref  frag
short_lived          sweep    23.64  0.20   889        0      0      0.133
short_lived          compact  17.86  0.21   889        7      7      0.000
survival_10_percent  sweep    23.06  2.42   884        0      0      0.086
survival_10_percent  compact  30.41  6.84   884        34     34     0.000
cyclic_references    sweep    23.76  0.26   1890       0      0      0.141
cyclic_references    compact  22.55  0.42   1890       30     30     0.000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短命オブジェクトベンチマーク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000" y="2050000"/>
            <a:ext cx="15600000" cy="3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450" b="0" dirty="0">
                <a:solidFill>
                  <a:srgbClr val="555555"/>
                </a:solidFill>
                <a:latin typeface="セザンヌ Bold"/>
                <a:ea typeface="セザンヌ Bold"/>
                <a:cs typeface="セザンヌ Bold"/>
              </a:rPr>
              <a:t>条件: iterations=1000, threshold=128, runs=5</a:t>
            </a:r>
          </a:p>
        </p:txBody>
      </p:sp>
      <p:graphicFrame>
        <p:nvGraphicFramePr>
          <p:cNvPr id="31" name="Table 31"/>
          <p:cNvGraphicFramePr/>
          <p:nvPr/>
        </p:nvGraphicFramePr>
        <p:xfrm>
          <a:off x="1250000" y="2650000"/>
          <a:ext cx="13400000" cy="1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2050000"/>
                <a:gridCol w="1800000"/>
                <a:gridCol w="1700000"/>
                <a:gridCol w="1350000"/>
                <a:gridCol w="1550000"/>
                <a:gridCol w="1900000"/>
                <a:gridCol w="1350000"/>
              </a:tblGrid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GC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avg total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avg GC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collected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moved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updated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heap/live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frag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Sweep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14.361ms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0.093ms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889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128/111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0.133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Compact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9.350ms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0.104ms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889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7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7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111/111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TextBox 32"/>
          <p:cNvSpPr txBox="1"/>
          <p:nvPr/>
        </p:nvSpPr>
        <p:spPr>
          <a:xfrm>
            <a:off x="1250000" y="4760000"/>
            <a:ext cx="15400000" cy="3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1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考察</a:t>
            </a:r>
          </a:p>
        </p:txBody>
      </p:sp>
      <p:sp>
        <p:nvSpPr>
          <p:cNvPr id="33" name="Shape 33"/>
          <p:cNvSpPr/>
          <p:nvPr/>
        </p:nvSpPr>
        <p:spPr>
          <a:xfrm>
            <a:off x="1250000" y="5220000"/>
            <a:ext cx="15500000" cy="29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620000" y="5470000"/>
            <a:ext cx="14850000" cy="24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4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回収数はどちらも889個で同じ。不要オブジェクトの検出能力は同等。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4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Sweepは移動・参照更新が0で単純だが、heap/live = 128/111 となり穴が残る。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4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Compactは7個の移動と7個の参照更新を行い、heap/live = 111/111、断片化率0.000にできた。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4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短命オブジェクト中心では生存数が少ないため、Compactの追加作業が小さく、断片化解消の効果が出やすい。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4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実行時間はRuby上の測定で揺れるため、主張の中心は frag / moved / updated の構造的な差。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GC方式選択ベンチマーク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11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000" y="1900000"/>
            <a:ext cx="15600000" cy="3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450" b="0" dirty="0">
                <a:solidFill>
                  <a:srgbClr val="555555"/>
                </a:solidFill>
                <a:latin typeface="セザンヌ Bold"/>
                <a:ea typeface="セザンヌ Bold"/>
                <a:cs typeface="セザンヌ Bold"/>
              </a:rPr>
              <a:t>目的: 低・中・高生存率でSweepとCompactの使い分け観点を見る</a:t>
            </a:r>
          </a:p>
        </p:txBody>
      </p:sp>
      <p:graphicFrame>
        <p:nvGraphicFramePr>
          <p:cNvPr id="31" name="Table 31"/>
          <p:cNvGraphicFramePr/>
          <p:nvPr/>
        </p:nvGraphicFramePr>
        <p:xfrm>
          <a:off x="1250000" y="2450000"/>
          <a:ext cx="1130000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550000"/>
                <a:gridCol w="1650000"/>
                <a:gridCol w="1550000"/>
                <a:gridCol w="1300000"/>
                <a:gridCol w="1350000"/>
                <a:gridCol w="1500000"/>
                <a:gridCol w="1200000"/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生存率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方式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total (ms)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GC (ms)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回収 (個)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moved (個)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updated (個)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1" dirty="0">
                          <a:solidFill>
                            <a:srgbClr val="FFFFFF"/>
                          </a:solidFill>
                          <a:latin typeface="Aptos"/>
                          <a:ea typeface="游ゴシック"/>
                        </a:rPr>
                        <a:t>frag (率)</a:t>
                      </a:r>
                    </a:p>
                  </a:txBody>
                  <a:tcPr marL="45720" marR="45720" marT="45720" marB="45720">
                    <a:solidFill>
                      <a:srgbClr val="003479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10%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Sweep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24.551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0.333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770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0.098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10%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Compact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15.850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0.697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770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5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5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30%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Sweep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146.987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108.784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698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30%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Compact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296.646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268.678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698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698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698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50%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Sweep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218.224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169.954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498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F7F9FC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50%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Compact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440.157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404.119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498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120" b="0" dirty="0">
                          <a:solidFill>
                            <a:srgbClr val="1E1E1E"/>
                          </a:solidFill>
                          <a:latin typeface="Aptos"/>
                          <a:ea typeface="游ゴシック"/>
                        </a:rPr>
                        <a:t>0.000</a:t>
                      </a:r>
                    </a:p>
                  </a:txBody>
                  <a:tcPr marL="45720" marR="45720" marT="45720" marB="45720">
                    <a:solidFill>
                      <a:srgbClr val="EAF4FB"/>
                    </a:solidFill>
                    <a:lnL w="6350">
                      <a:solidFill>
                        <a:srgbClr val="D6E0EA"/>
                      </a:solidFill>
                    </a:lnL>
                    <a:lnR w="6350">
                      <a:solidFill>
                        <a:srgbClr val="D6E0EA"/>
                      </a:solidFill>
                    </a:lnR>
                    <a:lnT w="6350">
                      <a:solidFill>
                        <a:srgbClr val="D6E0EA"/>
                      </a:solidFill>
                    </a:lnT>
                    <a:lnB w="6350">
                      <a:solidFill>
                        <a:srgbClr val="D6E0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Shape 32"/>
          <p:cNvSpPr/>
          <p:nvPr/>
        </p:nvSpPr>
        <p:spPr>
          <a:xfrm>
            <a:off x="1250000" y="5820000"/>
            <a:ext cx="15500000" cy="720000"/>
          </a:xfrm>
          <a:prstGeom prst="roundRect">
            <a:avLst/>
          </a:prstGeom>
          <a:solidFill>
            <a:srgbClr val="F4F7FB"/>
          </a:solidFill>
          <a:ln w="16000">
            <a:solidFill>
              <a:srgbClr val="C7D7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520000" y="5990000"/>
            <a:ext cx="1495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50" b="0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</a:rPr>
              <a:t>ラベル: total=プログラム全体の実行時間、GC=GC処理の合計時間、frag=VMヒープ配列内の空きスロット率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0000" y="6780000"/>
            <a:ext cx="15400000" cy="3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21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考察</a:t>
            </a:r>
          </a:p>
        </p:txBody>
      </p:sp>
      <p:sp>
        <p:nvSpPr>
          <p:cNvPr id="35" name="Shape 35"/>
          <p:cNvSpPr/>
          <p:nvPr/>
        </p:nvSpPr>
        <p:spPr>
          <a:xfrm>
            <a:off x="1250000" y="7180000"/>
            <a:ext cx="15500000" cy="1550000"/>
          </a:xfrm>
          <a:prstGeom prst="roundRect">
            <a:avLst/>
          </a:prstGeom>
          <a:solidFill>
            <a:srgbClr val="F6F8FA"/>
          </a:solidFill>
          <a:ln w="16000">
            <a:solidFill>
              <a:srgbClr val="D6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620000" y="7400000"/>
            <a:ext cx="14850000" cy="11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12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10%ではCompactのmoved/updatedが5個で小さく、fragを0.098から0.000へ改善できた。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12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30%ではSweepでもfragが0.000になり、Compactは698個の移動・参照更新だけが重く残る。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12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50%ではCompactのGC時間が404.119msまで増え、Sweepの169.954msとの差がさらに大きい。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112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この結果は実GCの基準そのものではなく、Compactの参照更新コストを観察する実験として位置づける。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ベンチマークの考察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12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5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Compactは全ケースで断片化率0.000: ヒープの穴を消せている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Compactは生存オブジェクトが多いほど移動・参照更新コストが増える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Sweepは移動しないので軽いが、短命・循環ケースでヒープに穴が残る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循環参照は参照カウントでは苦手だが、Mark系GCでは到達不能なら回収できる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結論: Sweepは単純で軽い、Compactは高コストだがメモリ配置をきれいに保てる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発表デモ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13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3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1. int[][] で配列内参照を実行: examples/09_nested_arrays.mcpp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2. compact_gc() でヒープを詰めても arrays[0][0] が読める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3. --gc-stats で moved_objects / updated_references を確認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0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4. benchmarks/gc_benchmark.rb で Sweep と Compact を比較</a:t>
            </a:r>
          </a:p>
        </p:txBody>
      </p:sp>
      <p:sp>
        <p:nvSpPr>
          <p:cNvPr id="31" name="Code 31"/>
          <p:cNvSpPr txBox="1"/>
          <p:nvPr/>
        </p:nvSpPr>
        <p:spPr>
          <a:xfrm>
            <a:off x="1700000" y="6100000"/>
            <a:ext cx="14600000" cy="2500000"/>
          </a:xfrm>
          <a:prstGeom prst="roundRect">
            <a:avLst/>
          </a:prstGeom>
          <a:solidFill>
            <a:srgbClr val="F4F7FB"/>
          </a:solidFill>
          <a:ln w="12000">
            <a:solidFill>
              <a:srgbClr val="C7D7EA"/>
            </a:solidFill>
          </a:ln>
        </p:spPr>
        <p:txBody>
          <a:bodyPr lIns="180000" tIns="150000" rIns="180000" bIns="150000" rtlCol="0" anchor="t">
            <a:spAutoFit/>
          </a:bodyPr>
          <a:lstStyle/>
          <a:p>
            <a:r>
              <a:rPr lang="en-US" sz="1700" dirty="0">
                <a:solidFill>
                  <a:srgbClr val="1E1E1E"/>
                </a:solidFill>
                <a:latin typeface="Consolas"/>
                <a:ea typeface="游ゴシック"/>
              </a:rPr>
              <a:t>ruby minicpp.rb --result examples/09_nested_arrays.mcpp
ruby minicpp.rb --result --gc-stats \
  --gc-strategy compact --gc-threshold 3 \
  examples/10_compact_gc.mcpp
ruby benchmarks/gc_benchmark.rb 1000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5250000" y="-1200000"/>
            <a:ext cx="950000" cy="4000000"/>
          </a:xfrm>
          <a:prstGeom prst="rect">
            <a:avLst/>
          </a:prstGeom>
          <a:solidFill>
            <a:srgbClr val="4DCAFF">
              <a:alpha val="42000"/>
            </a:srgbClr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6250000" y="-300000"/>
            <a:ext cx="720000" cy="4800000"/>
          </a:xfrm>
          <a:prstGeom prst="rect">
            <a:avLst/>
          </a:prstGeom>
          <a:solidFill>
            <a:srgbClr val="00086D">
              <a:alpha val="3000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-550000" y="7250000"/>
            <a:ext cx="700000" cy="3500000"/>
          </a:xfrm>
          <a:prstGeom prst="rect">
            <a:avLst/>
          </a:prstGeom>
          <a:solidFill>
            <a:srgbClr val="4DCAFF">
              <a:alpha val="36000"/>
            </a:srgbClr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7050000" y="7300000"/>
            <a:ext cx="850000" cy="3500000"/>
          </a:xfrm>
          <a:prstGeom prst="rect">
            <a:avLst/>
          </a:prstGeom>
          <a:solidFill>
            <a:srgbClr val="00086D">
              <a:alpha val="26000"/>
            </a:srgbClr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1028700" y="647701"/>
            <a:ext cx="145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</a:rPr>
              <a:t>今後の課題: 世代別GC</a:t>
            </a:r>
          </a:p>
        </p:txBody>
      </p:sp>
      <p:sp>
        <p:nvSpPr>
          <p:cNvPr id="3" name="Line 3"/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1028700" y="9780000"/>
            <a:ext cx="30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MiniC++ VM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6700000" y="9780000"/>
            <a:ext cx="500000" cy="2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ja-JP" altLang="en-US" sz="1100" b="0" dirty="0">
                <a:solidFill>
                  <a:srgbClr val="666666"/>
                </a:solidFill>
                <a:latin typeface="セザンヌ Bold"/>
                <a:ea typeface="セザンヌ Bold"/>
                <a:cs typeface="セザンヌ Bold"/>
              </a:rPr>
              <a:t>14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0000" y="2220000"/>
            <a:ext cx="15000000" cy="5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世代別GCは「多くのオブジェクトは若くして死ぬ」という仮説を使う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MiniC++で本格実装するなら young / old 世代、promotion、minor GC が必要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配列内参照があるため old -&gt; young 参照を記録する write barrier が必要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今回の到達可能性・参照更新・統計基盤は、世代別GCへの土台になる</a:t>
            </a:r>
          </a:p>
          <a:p>
            <a:pPr marL="390000" indent="-260000">
              <a:lnSpc>
                <a:spcPct val="135000"/>
              </a:lnSpc>
              <a:spcBef>
                <a:spcPts val="800"/>
              </a:spcBef>
              <a:buFont typeface="Arial"/>
              <a:buChar char="•"/>
            </a:pPr>
            <a:r>
              <a:rPr lang="ja-JP" altLang="en-US" sz="2350" b="0" dirty="0">
                <a:solidFill>
                  <a:srgbClr val="1E1E1E"/>
                </a:solidFill>
                <a:latin typeface="セザンヌ Medium"/>
                <a:ea typeface="セザンヌ Medium"/>
                <a:cs typeface="セザンヌ Medium"/>
              </a:rPr>
              <a:t>最終的にはGC方式を切り替えて、停止時間・断片化・更新コストを比較したい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220</Words>
  <Application>Microsoft Office PowerPoint</Application>
  <PresentationFormat>ユーザー設定</PresentationFormat>
  <Paragraphs>10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セザンヌ Medium</vt:lpstr>
      <vt:lpstr>Arial</vt:lpstr>
      <vt:lpstr>Calibri</vt:lpstr>
      <vt:lpstr>セザンヌ Bold</vt:lpstr>
      <vt:lpstr>Office Theme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yoshiki</dc:creator>
  <cp:lastModifiedBy>賢樹 村上</cp:lastModifiedBy>
  <cp:revision>17</cp:revision>
  <dcterms:created xsi:type="dcterms:W3CDTF">2006-08-16T00:00:00Z</dcterms:created>
  <dcterms:modified xsi:type="dcterms:W3CDTF">2026-06-19T06:04:54Z</dcterms:modified>
  <dc:identifier>DAHAq-Yf1wc</dc:identifier>
</cp:coreProperties>
</file>